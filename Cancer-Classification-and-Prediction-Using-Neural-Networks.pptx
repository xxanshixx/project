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Fira Sans Condensed"/>
      <p:regular r:id="rId201314"/>
    </p:embeddedFont>
    <p:embeddedFont>
      <p:font typeface="Fira Sans Condensed SemiBold"/>
      <p:regular r:id="rId201315"/>
    </p:embeddedFont>
    <p:embeddedFont>
      <p:font typeface="Fira Sans Condensed Bold"/>
      <p:regular r:id="rId201316"/>
    </p:embeddedFont>
    <p:embeddedFont>
      <p:font typeface="JetBrains Mono"/>
      <p:regular r:id="rId201317"/>
    </p:embeddedFont>
    <p:embeddedFont>
      <p:font typeface="JetBrains Mono Medium"/>
      <p:regular r:id="rId201318"/>
    </p:embeddedFont>
    <p:embeddedFont>
      <p:font typeface="JetBrai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accuracy can look strong while a few missed malignant cases still matter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error types and why the model is tuned to avoid false negatives.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output is decision support and that clinician review closes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bias, explainability, privacy, and oversight as conditions for any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support for a staged pilot with clinical review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939800"/>
            <a:ext cx="6603835" cy="4953000"/>
          </a:xfrm>
          <a:prstGeom prst="roundRect">
            <a:avLst>
              <a:gd name="adj" fmla="val 500"/>
            </a:avLst>
          </a:prstGeom>
          <a:solidFill>
            <a:srgbClr val="F4F3EC"/>
          </a:solidFill>
          <a:ln/>
        </p:spPr>
      </p:sp>
      <p:sp>
        <p:nvSpPr>
          <p:cNvPr id="3" name="Text 1"/>
          <p:cNvSpPr/>
          <p:nvPr/>
        </p:nvSpPr>
        <p:spPr>
          <a:xfrm>
            <a:off x="1092173" y="1298575"/>
            <a:ext cx="640064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13201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ARTIFICAL INTELLIGENCE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2173" y="1558528"/>
            <a:ext cx="579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spc="-48" kern="100" dirty="0">
                <a:solidFill>
                  <a:srgbClr val="13201B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Cancer Classification and Prediction Using Neural Networks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92173" y="3603228"/>
            <a:ext cx="1910905" cy="31651"/>
          </a:xfrm>
          <a:prstGeom prst="roundRect">
            <a:avLst>
              <a:gd name="adj" fmla="val 49998"/>
            </a:avLst>
          </a:prstGeom>
          <a:solidFill>
            <a:srgbClr val="9FE3C4"/>
          </a:solidFill>
          <a:ln/>
        </p:spPr>
      </p:sp>
      <p:sp>
        <p:nvSpPr>
          <p:cNvPr id="6" name="Text 4"/>
          <p:cNvSpPr/>
          <p:nvPr/>
        </p:nvSpPr>
        <p:spPr>
          <a:xfrm>
            <a:off x="1092173" y="3865166"/>
            <a:ext cx="640064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01B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Breast Cancer Wisconsin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2173" y="4200029"/>
            <a:ext cx="640064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13201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PRESENTED BY PATEL ANKSHITA VINOD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01 / MOTIVATION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Why automate tumor classification?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 model can make measurement-based analysis faster and more consistent while keeping clinical judgment in the loop.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3128566"/>
            <a:ext cx="3725174" cy="1562695"/>
          </a:xfrm>
          <a:prstGeom prst="roundRect">
            <a:avLst>
              <a:gd name="adj" fmla="val 3901"/>
            </a:avLst>
          </a:prstGeom>
          <a:solidFill>
            <a:srgbClr val="1F6B50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36" y="3338116"/>
            <a:ext cx="330192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136" y="3746103"/>
            <a:ext cx="33060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FFFFFF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Faster analysis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5136" y="4052491"/>
            <a:ext cx="351562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Support faster analysis of tumor measurements.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33161" y="3128566"/>
            <a:ext cx="3725273" cy="1562695"/>
          </a:xfrm>
          <a:prstGeom prst="roundRect">
            <a:avLst>
              <a:gd name="adj" fmla="val 3901"/>
            </a:avLst>
          </a:prstGeom>
          <a:solidFill>
            <a:srgbClr val="1F6B50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706" y="3338116"/>
            <a:ext cx="330192" cy="33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42706" y="3746103"/>
            <a:ext cx="33061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FFFFFF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Consistent support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42706" y="4052491"/>
            <a:ext cx="330618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Frame the model as a decision-support tool, not a replacement for clinical judgment.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10831" y="3128566"/>
            <a:ext cx="3725273" cy="1562695"/>
          </a:xfrm>
          <a:prstGeom prst="roundRect">
            <a:avLst>
              <a:gd name="adj" fmla="val 3901"/>
            </a:avLst>
          </a:prstGeom>
          <a:solidFill>
            <a:srgbClr val="1F6B50"/>
          </a:solidFill>
          <a:ln w="6350">
            <a:solidFill>
              <a:srgbClr val="F2D1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375" y="3338116"/>
            <a:ext cx="330192" cy="33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0375" y="3746103"/>
            <a:ext cx="33061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FFFFFF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Clear output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320375" y="4052491"/>
            <a:ext cx="351572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Classify each case as benign or malignant.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02 / PROJECT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5591" y="1027509"/>
            <a:ext cx="3725174" cy="5551091"/>
          </a:xfrm>
          <a:prstGeom prst="roundRect">
            <a:avLst>
              <a:gd name="adj" fmla="val 1636"/>
            </a:avLst>
          </a:prstGeom>
          <a:solidFill>
            <a:srgbClr val="DDF2E8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259284"/>
            <a:ext cx="34965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01 / BUILD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4185" y="1504950"/>
            <a:ext cx="32679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Predict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84185" y="2051050"/>
            <a:ext cx="349658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Build an intelligent cancer prediction system.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4185" y="6189266"/>
            <a:ext cx="349658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 BINARY CLASSIFICATION TASK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33161" y="1027509"/>
            <a:ext cx="3725273" cy="5551091"/>
          </a:xfrm>
          <a:prstGeom prst="roundRect">
            <a:avLst>
              <a:gd name="adj" fmla="val 1636"/>
            </a:avLst>
          </a:prstGeom>
          <a:solidFill>
            <a:srgbClr val="DDF2E8"/>
          </a:solidFill>
          <a:ln/>
        </p:spPr>
      </p:sp>
      <p:sp>
        <p:nvSpPr>
          <p:cNvPr id="10" name="Text 8"/>
          <p:cNvSpPr/>
          <p:nvPr/>
        </p:nvSpPr>
        <p:spPr>
          <a:xfrm>
            <a:off x="4461756" y="1259284"/>
            <a:ext cx="349667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02 / PREPARE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1756" y="1504950"/>
            <a:ext cx="32680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Prepare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61756" y="2051050"/>
            <a:ext cx="349667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Prepare healthcare data for machine learning.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1756" y="6189266"/>
            <a:ext cx="349667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FROM RAW MEASUREMENTS TO INPUTS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0831" y="1027509"/>
            <a:ext cx="3725273" cy="5551091"/>
          </a:xfrm>
          <a:prstGeom prst="roundRect">
            <a:avLst>
              <a:gd name="adj" fmla="val 1636"/>
            </a:avLst>
          </a:prstGeom>
          <a:solidFill>
            <a:srgbClr val="DDF2E8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4824" y="1284684"/>
            <a:ext cx="34712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03 / EVALUATE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64824" y="1530350"/>
            <a:ext cx="32172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Measure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64824" y="2076450"/>
            <a:ext cx="321728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Train a neural network and evaluate accuracy, precision, recall, F1 score, and confusion matrix.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4824" y="6163866"/>
            <a:ext cx="347128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RESULTS MUST EXPLAIN ERRORS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1520428"/>
            <a:ext cx="716262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03 / DATASET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1749859"/>
            <a:ext cx="680703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The dataset turns tumor shape into measurable signals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2622947"/>
            <a:ext cx="716262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Each record converts observed tumor characteristics into numeric inputs that a model can compare.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2951857"/>
            <a:ext cx="3327317" cy="1106488"/>
          </a:xfrm>
          <a:prstGeom prst="roundRect">
            <a:avLst>
              <a:gd name="adj" fmla="val 5509"/>
            </a:avLst>
          </a:prstGeom>
          <a:solidFill>
            <a:srgbClr val="13201B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3167757"/>
            <a:ext cx="292092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569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58786" y="3719810"/>
            <a:ext cx="3124122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RECORDS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35304" y="2951857"/>
            <a:ext cx="3327317" cy="1106488"/>
          </a:xfrm>
          <a:prstGeom prst="roundRect">
            <a:avLst>
              <a:gd name="adj" fmla="val 5509"/>
            </a:avLst>
          </a:prstGeom>
          <a:solidFill>
            <a:srgbClr val="DDF2E8"/>
          </a:solidFill>
          <a:ln/>
        </p:spPr>
      </p:sp>
      <p:sp>
        <p:nvSpPr>
          <p:cNvPr id="9" name="Text 7"/>
          <p:cNvSpPr/>
          <p:nvPr/>
        </p:nvSpPr>
        <p:spPr>
          <a:xfrm>
            <a:off x="4038499" y="3167757"/>
            <a:ext cx="292092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30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038499" y="3719810"/>
            <a:ext cx="3124122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NUMERIC TUMOR FEATURES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5591" y="4236145"/>
            <a:ext cx="6807030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Feature groups include radius, texture, perimeter, area, smoothness, compactness, concavity, symmetry, and fractal dimension.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Each row also includes an identifier and diagnosis label.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591" y="5108575"/>
            <a:ext cx="1069651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4609" y="5161684"/>
            <a:ext cx="148120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B = BENIGN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507790" y="5108575"/>
            <a:ext cx="1331185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9FE3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6807" y="5161684"/>
            <a:ext cx="1742734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M = MALIGNANT</a:t>
            </a:r>
            <a:endParaRPr lang="en-US" sz="10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3" y="1585913"/>
            <a:ext cx="3174921" cy="3175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73803" y="4944666"/>
            <a:ext cx="396230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THE MODEL RECEIVES MEASURABLE SIGNALS, NOT A VISUAL IMPRESSION.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04 / PREPROCESSING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From raw measurements to model-ready inputs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Five preparation steps make the dataset usable for supervised learning.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418927"/>
            <a:ext cx="2174225" cy="5159673"/>
          </a:xfrm>
          <a:prstGeom prst="roundRect">
            <a:avLst>
              <a:gd name="adj" fmla="val 2804"/>
            </a:avLst>
          </a:prstGeom>
          <a:solidFill>
            <a:srgbClr val="BFE0E6"/>
          </a:solidFill>
          <a:ln/>
        </p:spPr>
      </p:sp>
      <p:sp>
        <p:nvSpPr>
          <p:cNvPr id="6" name="Text 4"/>
          <p:cNvSpPr/>
          <p:nvPr/>
        </p:nvSpPr>
        <p:spPr>
          <a:xfrm>
            <a:off x="507987" y="1596727"/>
            <a:ext cx="7634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7987" y="18279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8" name="Text 6"/>
          <p:cNvSpPr/>
          <p:nvPr/>
        </p:nvSpPr>
        <p:spPr>
          <a:xfrm>
            <a:off x="507987" y="3807916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87" y="4114304"/>
            <a:ext cx="18694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Load and inspect the dataset.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82113" y="1418927"/>
            <a:ext cx="2174225" cy="5159673"/>
          </a:xfrm>
          <a:prstGeom prst="roundRect">
            <a:avLst>
              <a:gd name="adj" fmla="val 2804"/>
            </a:avLst>
          </a:prstGeom>
          <a:solidFill>
            <a:srgbClr val="DDF2E8"/>
          </a:solidFill>
          <a:ln/>
        </p:spPr>
      </p:sp>
      <p:sp>
        <p:nvSpPr>
          <p:cNvPr id="11" name="Text 9"/>
          <p:cNvSpPr/>
          <p:nvPr/>
        </p:nvSpPr>
        <p:spPr>
          <a:xfrm>
            <a:off x="2834510" y="1596727"/>
            <a:ext cx="77289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510" y="18279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510" y="3807916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Separate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510" y="4114304"/>
            <a:ext cx="18694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Separate features from the diagnosis target.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08636" y="1418927"/>
            <a:ext cx="2174325" cy="5159673"/>
          </a:xfrm>
          <a:prstGeom prst="roundRect">
            <a:avLst>
              <a:gd name="adj" fmla="val 2804"/>
            </a:avLst>
          </a:prstGeom>
          <a:solidFill>
            <a:srgbClr val="BFE0E6"/>
          </a:solidFill>
          <a:ln/>
        </p:spPr>
      </p:sp>
      <p:sp>
        <p:nvSpPr>
          <p:cNvPr id="16" name="Text 14"/>
          <p:cNvSpPr/>
          <p:nvPr/>
        </p:nvSpPr>
        <p:spPr>
          <a:xfrm>
            <a:off x="5161032" y="1596727"/>
            <a:ext cx="7742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1032" y="18279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18" name="Text 16"/>
          <p:cNvSpPr/>
          <p:nvPr/>
        </p:nvSpPr>
        <p:spPr>
          <a:xfrm>
            <a:off x="5161032" y="3807916"/>
            <a:ext cx="18695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Encode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1032" y="4114304"/>
            <a:ext cx="186953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Encode the two classes numerically.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35257" y="1418927"/>
            <a:ext cx="2174225" cy="5159673"/>
          </a:xfrm>
          <a:prstGeom prst="roundRect">
            <a:avLst>
              <a:gd name="adj" fmla="val 2804"/>
            </a:avLst>
          </a:prstGeom>
          <a:solidFill>
            <a:srgbClr val="DDF2E8"/>
          </a:solidFill>
          <a:ln/>
        </p:spPr>
      </p:sp>
      <p:sp>
        <p:nvSpPr>
          <p:cNvPr id="21" name="Text 19"/>
          <p:cNvSpPr/>
          <p:nvPr/>
        </p:nvSpPr>
        <p:spPr>
          <a:xfrm>
            <a:off x="7487653" y="1596727"/>
            <a:ext cx="7823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87653" y="18279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23" name="Text 21"/>
          <p:cNvSpPr/>
          <p:nvPr/>
        </p:nvSpPr>
        <p:spPr>
          <a:xfrm>
            <a:off x="7487653" y="3700661"/>
            <a:ext cx="18694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Scale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87653" y="4007048"/>
            <a:ext cx="1869433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Scale features so large-valued measurements do not dominate.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61779" y="1418927"/>
            <a:ext cx="2174325" cy="5159673"/>
          </a:xfrm>
          <a:prstGeom prst="roundRect">
            <a:avLst>
              <a:gd name="adj" fmla="val 2804"/>
            </a:avLst>
          </a:prstGeom>
          <a:solidFill>
            <a:srgbClr val="BFE0E6"/>
          </a:solidFill>
          <a:ln/>
        </p:spPr>
      </p:sp>
      <p:sp>
        <p:nvSpPr>
          <p:cNvPr id="26" name="Text 24"/>
          <p:cNvSpPr/>
          <p:nvPr/>
        </p:nvSpPr>
        <p:spPr>
          <a:xfrm>
            <a:off x="9814176" y="1596727"/>
            <a:ext cx="77835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14176" y="1827907"/>
            <a:ext cx="1869433" cy="19050"/>
          </a:xfrm>
          <a:prstGeom prst="rect">
            <a:avLst/>
          </a:prstGeom>
          <a:solidFill>
            <a:srgbClr val="9FE3C4"/>
          </a:solidFill>
          <a:ln/>
        </p:spPr>
      </p:sp>
      <p:sp>
        <p:nvSpPr>
          <p:cNvPr id="28" name="Text 26"/>
          <p:cNvSpPr/>
          <p:nvPr/>
        </p:nvSpPr>
        <p:spPr>
          <a:xfrm>
            <a:off x="9814176" y="3807916"/>
            <a:ext cx="18695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Split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14176" y="4114304"/>
            <a:ext cx="186953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Split data into training and validation/test sets.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05 / MODEL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Neural network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48051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Numeric features flow through an input layer, fully connected hidden layers with nonlinear activation, and a binary output layer that returns the probability of malignancy.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582737"/>
            <a:ext cx="3261239" cy="4995863"/>
          </a:xfrm>
          <a:prstGeom prst="roundRect">
            <a:avLst>
              <a:gd name="adj" fmla="val 1869"/>
            </a:avLst>
          </a:prstGeom>
          <a:solidFill>
            <a:srgbClr val="DDF2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3221335"/>
            <a:ext cx="330192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86" y="3627735"/>
            <a:ext cx="305804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INPUT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8786" y="3850541"/>
            <a:ext cx="2854849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Standardized tumor measurements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8786" y="4510782"/>
            <a:ext cx="285484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Model-ready numeric features enter the network.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867" y="3940969"/>
            <a:ext cx="279393" cy="279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46298" y="1582737"/>
            <a:ext cx="3623775" cy="4995863"/>
          </a:xfrm>
          <a:prstGeom prst="roundRect">
            <a:avLst>
              <a:gd name="adj" fmla="val 1682"/>
            </a:avLst>
          </a:prstGeom>
          <a:solidFill>
            <a:srgbClr val="DDF2E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493" y="3358455"/>
            <a:ext cx="330192" cy="330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9493" y="3764855"/>
            <a:ext cx="34205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HIDDEN LAYERS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849493" y="3987661"/>
            <a:ext cx="32173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Fully connected layers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849493" y="4373662"/>
            <a:ext cx="321738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Nonlinear activation learns feature interactions.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011" y="3940969"/>
            <a:ext cx="279393" cy="2794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299442" y="1582737"/>
            <a:ext cx="2536662" cy="4995863"/>
          </a:xfrm>
          <a:prstGeom prst="roundRect">
            <a:avLst>
              <a:gd name="adj" fmla="val 2403"/>
            </a:avLst>
          </a:prstGeom>
          <a:solidFill>
            <a:srgbClr val="DDF2E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2636" y="3465711"/>
            <a:ext cx="330192" cy="330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02636" y="3872111"/>
            <a:ext cx="233346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OUTPUT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9502636" y="4094917"/>
            <a:ext cx="213027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Probability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9502636" y="4480917"/>
            <a:ext cx="233346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Benign vs malignant prediction.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1943199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06 / TRAINING CONTROL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2172630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Training strategy reduces overfitting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2661741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training process watches validation behaviour, not only the score on examples it has already seen.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2990652"/>
            <a:ext cx="3725174" cy="1952724"/>
          </a:xfrm>
          <a:prstGeom prst="roundRect">
            <a:avLst>
              <a:gd name="adj" fmla="val 3122"/>
            </a:avLst>
          </a:prstGeom>
          <a:solidFill>
            <a:srgbClr val="DDF2E8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222427"/>
            <a:ext cx="34965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01 / MONITOR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4185" y="3445232"/>
            <a:ext cx="3267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Validation loss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4185" y="3831233"/>
            <a:ext cx="349658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Monitor validation loss during training.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4185" y="4124821"/>
            <a:ext cx="349658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 CHECK BEYOND THE TRAINING 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161" y="2990652"/>
            <a:ext cx="3725273" cy="1952724"/>
          </a:xfrm>
          <a:prstGeom prst="roundRect">
            <a:avLst>
              <a:gd name="adj" fmla="val 3122"/>
            </a:avLst>
          </a:prstGeom>
          <a:solidFill>
            <a:srgbClr val="DDF2E8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7155" y="3247827"/>
            <a:ext cx="34712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02 / STOP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7155" y="3470632"/>
            <a:ext cx="321728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Early stopping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7155" y="3856633"/>
            <a:ext cx="321728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Use early stopping with patience 10 and restore the best weights.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7155" y="4358878"/>
            <a:ext cx="1156862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15" name="Text 13"/>
          <p:cNvSpPr/>
          <p:nvPr/>
        </p:nvSpPr>
        <p:spPr>
          <a:xfrm>
            <a:off x="4586173" y="4411987"/>
            <a:ext cx="1568411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PATIENCE 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0831" y="2990652"/>
            <a:ext cx="3725273" cy="1952724"/>
          </a:xfrm>
          <a:prstGeom prst="roundRect">
            <a:avLst>
              <a:gd name="adj" fmla="val 3122"/>
            </a:avLst>
          </a:prstGeom>
          <a:solidFill>
            <a:srgbClr val="DDF2E8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425" y="3222427"/>
            <a:ext cx="349667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03 / RUN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425" y="3445232"/>
            <a:ext cx="32680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51 epochs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39425" y="3831233"/>
            <a:ext cx="3268085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supplied run trained for 51 epochs, with validation accuracy staying near the high-0.96 range by the end.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9425" y="4554041"/>
            <a:ext cx="349667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BEST WEIGHTS RESTORED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727096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07 / TRAINING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727096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The model converges quickly and generalizes well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727096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supplied curves show a sharp early improvement, followed by a stable plateau.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2372856" cy="5185073"/>
          </a:xfrm>
          <a:prstGeom prst="roundRect">
            <a:avLst>
              <a:gd name="adj" fmla="val 2569"/>
            </a:avLst>
          </a:prstGeom>
          <a:solidFill>
            <a:srgbClr val="DDF2E8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599902"/>
            <a:ext cx="216966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LOSS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8786" y="1822708"/>
            <a:ext cx="1966466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Falls, then levels off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8786" y="2482949"/>
            <a:ext cx="1966466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Training loss falls sharply in the first 10 epochs and then levels off.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8786" y="6047978"/>
            <a:ext cx="196646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EARLY LEARNING · STABLE FINISH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0844" y="1393527"/>
            <a:ext cx="4745713" cy="5185073"/>
          </a:xfrm>
          <a:prstGeom prst="roundRect">
            <a:avLst>
              <a:gd name="adj" fmla="val 1284"/>
            </a:avLst>
          </a:prstGeom>
          <a:solidFill>
            <a:srgbClr val="DDF2E8"/>
          </a:solidFill>
          <a:ln/>
        </p:spPr>
      </p:sp>
      <p:sp>
        <p:nvSpPr>
          <p:cNvPr id="11" name="Text 9"/>
          <p:cNvSpPr/>
          <p:nvPr/>
        </p:nvSpPr>
        <p:spPr>
          <a:xfrm>
            <a:off x="3084038" y="1599902"/>
            <a:ext cx="454251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ACCURACY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84038" y="1822708"/>
            <a:ext cx="433932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High and close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84038" y="2208709"/>
            <a:ext cx="433932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At roughly epoch 50, training accuracy is about 0.98 and validation accuracy about 0.97.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84038" y="6214666"/>
            <a:ext cx="454251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ESTIMATED FROM THE PLOTTED CURVES</a:t>
            </a:r>
            <a:endParaRPr lang="en-US" sz="10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147" y="2356346"/>
            <a:ext cx="3498366" cy="21960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08 /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Confusion matrix: most cases land on the diagonal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diagonal contains correct predictions. Off-diagonal cells expose the errors that deserve attention.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7174527" cy="5185073"/>
          </a:xfrm>
          <a:prstGeom prst="roundRect">
            <a:avLst>
              <a:gd name="adj" fmla="val 1176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625302"/>
            <a:ext cx="697133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13201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PREDICTED CLASS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855093"/>
          <a:ext cx="6768137" cy="914400"/>
        </p:xfrm>
        <a:graphic>
          <a:graphicData uri="http://schemas.openxmlformats.org/drawingml/2006/table">
            <a:tbl>
              <a:tblPr/>
              <a:tblGrid>
                <a:gridCol w="1624341"/>
                <a:gridCol w="2571848"/>
                <a:gridCol w="2571948"/>
              </a:tblGrid>
              <a:tr h="455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78" kern="100" dirty="0">
                          <a:solidFill>
                            <a:srgbClr val="13201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ACTUAL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78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BENIGN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78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MALIGNANT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8"/>
                    </a:solidFill>
                  </a:tcPr>
                </a:tc>
              </a:tr>
              <a:tr h="98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1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Benign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3600" spc="-36" kern="1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0"/>
                        </a:rPr>
                        <a:t>71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spc="52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TRUE BENIGN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3600" spc="-36" kern="1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0"/>
                        </a:rPr>
                        <a:t>1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spc="52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FALSE MALIGNANT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13A"/>
                    </a:solidFill>
                  </a:tcPr>
                </a:tc>
              </a:tr>
              <a:tr h="9794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1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Malignant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3600" spc="-36" kern="1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0"/>
                        </a:rPr>
                        <a:t>2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spc="52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FALSE BENIGN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1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3600" spc="-36" kern="100" dirty="0">
                          <a:solidFill>
                            <a:srgbClr val="000000"/>
                          </a:solidFill>
                          <a:latin typeface="Fira Sans Condensed" pitchFamily="34" charset="0"/>
                          <a:ea typeface="Fira Sans Condensed" pitchFamily="34" charset="-122"/>
                          <a:cs typeface="Fira Sans Condensed" pitchFamily="34" charset="0"/>
                        </a:rPr>
                        <a:t>40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spc="52" kern="100" dirty="0">
                          <a:solidFill>
                            <a:srgbClr val="0000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TRUE MALIGNANT</a:t>
                      </a:r>
                      <a:endParaRPr lang="en-US" sz="3600" dirty="0">
                        <a:latin typeface="Fira Sans Condensed" charset="0"/>
                        <a:ea typeface="Fira Sans Condensed" charset="0"/>
                        <a:cs typeface="Fira Sans Condensed" charset="0"/>
                      </a:endParaRPr>
                    </a:p>
                  </a:txBody>
                  <a:tcPr marL="101598" marR="101598" marT="114297" marB="114297" anchor="ctr">
                    <a:lnL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A8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82415" y="1393527"/>
            <a:ext cx="4153689" cy="5185073"/>
          </a:xfrm>
          <a:prstGeom prst="roundRect">
            <a:avLst>
              <a:gd name="adj" fmla="val 1468"/>
            </a:avLst>
          </a:prstGeom>
          <a:solidFill>
            <a:srgbClr val="F4F3EC"/>
          </a:solidFill>
          <a:ln/>
        </p:spPr>
      </p:sp>
      <p:sp>
        <p:nvSpPr>
          <p:cNvPr id="9" name="Text 6"/>
          <p:cNvSpPr/>
          <p:nvPr/>
        </p:nvSpPr>
        <p:spPr>
          <a:xfrm>
            <a:off x="7911009" y="1625302"/>
            <a:ext cx="392509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13201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WHAT MATTERS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11009" y="1848108"/>
            <a:ext cx="369650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10" kern="100" dirty="0">
                <a:solidFill>
                  <a:srgbClr val="13201B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False negatives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911009" y="2234109"/>
            <a:ext cx="369650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01B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Use the matrix to show which error matters most: a malignant case predicted benign is a false negative.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11009" y="6092527"/>
            <a:ext cx="1592620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13" name="Text 10"/>
          <p:cNvSpPr/>
          <p:nvPr/>
        </p:nvSpPr>
        <p:spPr>
          <a:xfrm>
            <a:off x="8010027" y="6145636"/>
            <a:ext cx="2004169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FALSE BENIGN = 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09 / RESULTS WITH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Performance metrics translate errors into meaning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supplied confusion matrix becomes four complementary views of this evaluation split.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2755831" cy="4190702"/>
          </a:xfrm>
          <a:prstGeom prst="roundRect">
            <a:avLst>
              <a:gd name="adj" fmla="val 2212"/>
            </a:avLst>
          </a:prstGeom>
          <a:solidFill>
            <a:srgbClr val="DDF2E8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59990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1845568"/>
            <a:ext cx="2400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97.4%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3387" y="2391668"/>
            <a:ext cx="25780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111/114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3387" y="5220295"/>
            <a:ext cx="257803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OVERALL CORRECT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3818" y="1393527"/>
            <a:ext cx="2755831" cy="4190702"/>
          </a:xfrm>
          <a:prstGeom prst="roundRect">
            <a:avLst>
              <a:gd name="adj" fmla="val 2212"/>
            </a:avLst>
          </a:prstGeom>
          <a:solidFill>
            <a:srgbClr val="B9D3C6"/>
          </a:solidFill>
          <a:ln/>
        </p:spPr>
      </p:sp>
      <p:sp>
        <p:nvSpPr>
          <p:cNvPr id="11" name="Text 9"/>
          <p:cNvSpPr/>
          <p:nvPr/>
        </p:nvSpPr>
        <p:spPr>
          <a:xfrm>
            <a:off x="3441614" y="159990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PRECISION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41614" y="1845568"/>
            <a:ext cx="2400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97.6%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41614" y="2391668"/>
            <a:ext cx="25780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40/(40+1)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1614" y="5053608"/>
            <a:ext cx="24002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MALIGNANT PREDICTIONS CORRECT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046" y="1393527"/>
            <a:ext cx="2755831" cy="4190702"/>
          </a:xfrm>
          <a:prstGeom prst="roundRect">
            <a:avLst>
              <a:gd name="adj" fmla="val 2212"/>
            </a:avLst>
          </a:prstGeom>
          <a:solidFill>
            <a:srgbClr val="BFE0E6"/>
          </a:solidFill>
          <a:ln/>
        </p:spPr>
      </p:sp>
      <p:sp>
        <p:nvSpPr>
          <p:cNvPr id="16" name="Text 14"/>
          <p:cNvSpPr/>
          <p:nvPr/>
        </p:nvSpPr>
        <p:spPr>
          <a:xfrm>
            <a:off x="6349841" y="159990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RECALL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49841" y="1845568"/>
            <a:ext cx="2400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95.2%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49841" y="2391668"/>
            <a:ext cx="25780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40/(40+2)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9841" y="5220295"/>
            <a:ext cx="257803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MALIGNANT CASES FOUND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80273" y="1393527"/>
            <a:ext cx="2755831" cy="4190702"/>
          </a:xfrm>
          <a:prstGeom prst="roundRect">
            <a:avLst>
              <a:gd name="adj" fmla="val 2212"/>
            </a:avLst>
          </a:prstGeom>
          <a:solidFill>
            <a:srgbClr val="E8DDB8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3468" y="1625302"/>
            <a:ext cx="25526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F1 SCORE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83468" y="1870968"/>
            <a:ext cx="234944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96.4%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83468" y="2417068"/>
            <a:ext cx="25526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Malignant class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3468" y="5194895"/>
            <a:ext cx="255263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PRECISION–RECALL BALANCE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5591" y="5736630"/>
            <a:ext cx="11480513" cy="841970"/>
          </a:xfrm>
          <a:prstGeom prst="roundRect">
            <a:avLst>
              <a:gd name="adj" fmla="val 2941"/>
            </a:avLst>
          </a:prstGeom>
          <a:solidFill>
            <a:srgbClr val="4B3F02"/>
          </a:solidFill>
          <a:ln/>
        </p:spPr>
      </p:sp>
      <p:sp>
        <p:nvSpPr>
          <p:cNvPr id="26" name="Text 24"/>
          <p:cNvSpPr/>
          <p:nvPr/>
        </p:nvSpPr>
        <p:spPr>
          <a:xfrm>
            <a:off x="520687" y="5943005"/>
            <a:ext cx="1115032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Metrics are calculated from the supplied confusion matrix; they describe this evaluation split, not universal clinical performance. This model is a decision-support tool, not a replacement for clinical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10 / BEYOND ACCURACY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Accuracy alone hides the costly errors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Precision and recall show how the model behaves on each class.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3725174" cy="5185073"/>
          </a:xfrm>
          <a:prstGeom prst="roundRect">
            <a:avLst>
              <a:gd name="adj" fmla="val 1636"/>
            </a:avLst>
          </a:prstGeom>
          <a:solidFill>
            <a:srgbClr val="DDF2E8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599902"/>
            <a:ext cx="35473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PRECISION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1845568"/>
            <a:ext cx="336958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97.6%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3387" y="2391668"/>
            <a:ext cx="35473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40 of 41 malignant predictions were correct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3387" y="6214666"/>
            <a:ext cx="354737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PROTECTS PATIENTS FROM FALSE ALARMS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161" y="1393527"/>
            <a:ext cx="3725273" cy="5185073"/>
          </a:xfrm>
          <a:prstGeom prst="roundRect">
            <a:avLst>
              <a:gd name="adj" fmla="val 1636"/>
            </a:avLst>
          </a:prstGeom>
          <a:solidFill>
            <a:srgbClr val="B9D3C6"/>
          </a:solidFill>
          <a:ln/>
        </p:spPr>
      </p:sp>
      <p:sp>
        <p:nvSpPr>
          <p:cNvPr id="11" name="Text 9"/>
          <p:cNvSpPr/>
          <p:nvPr/>
        </p:nvSpPr>
        <p:spPr>
          <a:xfrm>
            <a:off x="4410957" y="1599902"/>
            <a:ext cx="35474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RECALL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10957" y="1845568"/>
            <a:ext cx="33696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95.2%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410957" y="2391668"/>
            <a:ext cx="35474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40 of 42 malignant cases were found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0957" y="6214666"/>
            <a:ext cx="354747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PROTECTS PATIENTS FROM MISSED CANCERS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0831" y="1393527"/>
            <a:ext cx="3725273" cy="5185073"/>
          </a:xfrm>
          <a:prstGeom prst="roundRect">
            <a:avLst>
              <a:gd name="adj" fmla="val 1636"/>
            </a:avLst>
          </a:prstGeom>
          <a:solidFill>
            <a:srgbClr val="BFE0E6"/>
          </a:solidFill>
          <a:ln/>
        </p:spPr>
      </p:sp>
      <p:sp>
        <p:nvSpPr>
          <p:cNvPr id="16" name="Text 14"/>
          <p:cNvSpPr/>
          <p:nvPr/>
        </p:nvSpPr>
        <p:spPr>
          <a:xfrm>
            <a:off x="8288626" y="1599902"/>
            <a:ext cx="35474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WHY IT MATTERS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88626" y="1845568"/>
            <a:ext cx="33696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2 misses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88626" y="2391668"/>
            <a:ext cx="35474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False negatives delay treatment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8626" y="6214666"/>
            <a:ext cx="354747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RECALL IS WEIGHTED FIRST IN SCREENING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11 / ERROR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Benign and malignant errors carry different risks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three errors in the confusion matrix point in different clinical directions.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5664058" cy="5185073"/>
          </a:xfrm>
          <a:prstGeom prst="roundRect">
            <a:avLst>
              <a:gd name="adj" fmla="val 1176"/>
            </a:avLst>
          </a:prstGeom>
          <a:solidFill>
            <a:srgbClr val="BFE0E6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599902"/>
            <a:ext cx="54862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FALSE NEGATIVES: 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1845568"/>
            <a:ext cx="530846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Missed malignancy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3387" y="2391668"/>
            <a:ext cx="54862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Malignant tumors predicted as benign delay diagnosis and treatment.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3387" y="6214666"/>
            <a:ext cx="5486263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HIGHEST PRIORITY TO REDUCE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046" y="1393527"/>
            <a:ext cx="5664058" cy="5185073"/>
          </a:xfrm>
          <a:prstGeom prst="roundRect">
            <a:avLst>
              <a:gd name="adj" fmla="val 1176"/>
            </a:avLst>
          </a:prstGeom>
          <a:solidFill>
            <a:srgbClr val="DDF2E8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1" y="1599902"/>
            <a:ext cx="54862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FALSE POSITIVES: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49841" y="1845568"/>
            <a:ext cx="530846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Unneeded follow-up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49841" y="2391668"/>
            <a:ext cx="54862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Benign tumors predicted as malignant trigger extra tests and anxiety.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49841" y="6214666"/>
            <a:ext cx="5486263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LOWER COST, STILL REVIEWED BY CLINICIANS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12 / CLINICAL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From measurement to clinician review in four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model supports a decision; the clinician makes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2755831" cy="5185073"/>
          </a:xfrm>
          <a:prstGeom prst="roundRect">
            <a:avLst>
              <a:gd name="adj" fmla="val 2212"/>
            </a:avLst>
          </a:prstGeom>
          <a:solidFill>
            <a:srgbClr val="DDF2E8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59990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181223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Measure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387" y="2118618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Record cell nucleus measurements from the sample.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3818" y="1393527"/>
            <a:ext cx="2755831" cy="5185073"/>
          </a:xfrm>
          <a:prstGeom prst="roundRect">
            <a:avLst>
              <a:gd name="adj" fmla="val 2212"/>
            </a:avLst>
          </a:prstGeom>
          <a:solidFill>
            <a:srgbClr val="B9D3C6"/>
          </a:solidFill>
          <a:ln/>
        </p:spPr>
      </p:sp>
      <p:sp>
        <p:nvSpPr>
          <p:cNvPr id="10" name="Text 8"/>
          <p:cNvSpPr/>
          <p:nvPr/>
        </p:nvSpPr>
        <p:spPr>
          <a:xfrm>
            <a:off x="3441614" y="159990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STEP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41614" y="181223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Prepare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1614" y="2118618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Scale and normalize the 30 features for the network.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046" y="1393527"/>
            <a:ext cx="2755831" cy="5185073"/>
          </a:xfrm>
          <a:prstGeom prst="roundRect">
            <a:avLst>
              <a:gd name="adj" fmla="val 2212"/>
            </a:avLst>
          </a:prstGeom>
          <a:solidFill>
            <a:srgbClr val="BFE0E6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159990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STEP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49841" y="181223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Predict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49841" y="2118618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network returns a benign or malignant probability.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80273" y="1393527"/>
            <a:ext cx="2755831" cy="5185073"/>
          </a:xfrm>
          <a:prstGeom prst="roundRect">
            <a:avLst>
              <a:gd name="adj" fmla="val 2212"/>
            </a:avLst>
          </a:prstGeom>
          <a:solidFill>
            <a:srgbClr val="E8DDB8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068" y="1599902"/>
            <a:ext cx="25780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STEP 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58068" y="181223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58068" y="2118618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 clinician checks the result before any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13 / LIMITATIONS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Limits, risks, and ethics shape safe 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 small, single-source dataset cannot certify performance for every patient.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2755831" cy="4405313"/>
          </a:xfrm>
          <a:prstGeom prst="roundRect">
            <a:avLst>
              <a:gd name="adj" fmla="val 2212"/>
            </a:avLst>
          </a:prstGeom>
          <a:solidFill>
            <a:srgbClr val="DDF2E8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60149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Dataset bias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3387" y="1907877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114 test cases may not reflect all patients, scanners, or populations.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3818" y="1393527"/>
            <a:ext cx="2755831" cy="4405313"/>
          </a:xfrm>
          <a:prstGeom prst="roundRect">
            <a:avLst>
              <a:gd name="adj" fmla="val 2212"/>
            </a:avLst>
          </a:prstGeom>
          <a:solidFill>
            <a:srgbClr val="B9D3C6"/>
          </a:solidFill>
          <a:ln/>
        </p:spPr>
      </p:sp>
      <p:sp>
        <p:nvSpPr>
          <p:cNvPr id="9" name="Text 7"/>
          <p:cNvSpPr/>
          <p:nvPr/>
        </p:nvSpPr>
        <p:spPr>
          <a:xfrm>
            <a:off x="3441614" y="160149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Explainability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41614" y="1907877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Clinicians need to see which features drove each prediction.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046" y="1393527"/>
            <a:ext cx="2755831" cy="4405313"/>
          </a:xfrm>
          <a:prstGeom prst="roundRect">
            <a:avLst>
              <a:gd name="adj" fmla="val 2212"/>
            </a:avLst>
          </a:prstGeom>
          <a:solidFill>
            <a:srgbClr val="BFE0E6"/>
          </a:solidFill>
          <a:ln/>
        </p:spPr>
      </p:sp>
      <p:sp>
        <p:nvSpPr>
          <p:cNvPr id="12" name="Text 10"/>
          <p:cNvSpPr/>
          <p:nvPr/>
        </p:nvSpPr>
        <p:spPr>
          <a:xfrm>
            <a:off x="6349841" y="160149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Privacy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49841" y="1907877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Patient data must be protected and used under clear consent rules.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80273" y="1393527"/>
            <a:ext cx="2755831" cy="4405313"/>
          </a:xfrm>
          <a:prstGeom prst="roundRect">
            <a:avLst>
              <a:gd name="adj" fmla="val 2212"/>
            </a:avLst>
          </a:prstGeom>
          <a:solidFill>
            <a:srgbClr val="E8DDB8"/>
          </a:solidFill>
          <a:ln/>
        </p:spPr>
      </p:sp>
      <p:sp>
        <p:nvSpPr>
          <p:cNvPr id="15" name="Text 13"/>
          <p:cNvSpPr/>
          <p:nvPr/>
        </p:nvSpPr>
        <p:spPr>
          <a:xfrm>
            <a:off x="9258068" y="1601490"/>
            <a:ext cx="24002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Human oversight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58068" y="1907877"/>
            <a:ext cx="240024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Every prediction needs qualified clinical review before action.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5591" y="5951240"/>
            <a:ext cx="11480513" cy="627360"/>
          </a:xfrm>
          <a:prstGeom prst="roundRect">
            <a:avLst>
              <a:gd name="adj" fmla="val 3947"/>
            </a:avLst>
          </a:prstGeom>
          <a:solidFill>
            <a:srgbClr val="4B3F02"/>
          </a:solidFill>
          <a:ln/>
        </p:spPr>
      </p:sp>
      <p:sp>
        <p:nvSpPr>
          <p:cNvPr id="18" name="Text 16"/>
          <p:cNvSpPr/>
          <p:nvPr/>
        </p:nvSpPr>
        <p:spPr>
          <a:xfrm>
            <a:off x="520687" y="6157615"/>
            <a:ext cx="116710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This classifier is a decision-support tool, not a replacement for clinical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14 / TAKEAWAYS AND 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Accurate models still need careful, human-led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classifier is promising; the next work is validation, transparency, and oversight.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5664058" cy="5185073"/>
          </a:xfrm>
          <a:prstGeom prst="roundRect">
            <a:avLst>
              <a:gd name="adj" fmla="val 1176"/>
            </a:avLst>
          </a:prstGeom>
          <a:solidFill>
            <a:srgbClr val="DDF2E8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599902"/>
            <a:ext cx="54862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KEY TAKEAWAYS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1829693"/>
            <a:ext cx="5308467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Accuracy of 97.4% on the test split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Recall guards against missed cancers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Clinicians remain the final decision makers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046" y="1393527"/>
            <a:ext cx="5664058" cy="5185073"/>
          </a:xfrm>
          <a:prstGeom prst="roundRect">
            <a:avLst>
              <a:gd name="adj" fmla="val 1176"/>
            </a:avLst>
          </a:prstGeom>
          <a:solidFill>
            <a:srgbClr val="B9D3C6"/>
          </a:solidFill>
          <a:ln/>
        </p:spPr>
      </p:sp>
      <p:sp>
        <p:nvSpPr>
          <p:cNvPr id="9" name="Text 7"/>
          <p:cNvSpPr/>
          <p:nvPr/>
        </p:nvSpPr>
        <p:spPr>
          <a:xfrm>
            <a:off x="6349841" y="1599902"/>
            <a:ext cx="54862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NEXT STEPS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49841" y="1829693"/>
            <a:ext cx="5308467" cy="70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Validate on larger, multi-site datasets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Add explainability for each prediction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Pilot with clinicians under oversight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2026-10-29T13:29:42Z</dcterms:created>
  <dcterms:modified xsi:type="dcterms:W3CDTF">2026-10-29T13:29:42Z</dcterms:modified>
</cp:coreProperties>
</file>