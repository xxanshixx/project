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Familjen Grotesk Bold"/>
      <p:regular r:id="rId201314"/>
    </p:embeddedFont>
    <p:embeddedFont>
      <p:font typeface="Onest"/>
      <p:regular r:id="rId201315"/>
    </p:embeddedFont>
    <p:embeddedFont>
      <p:font typeface="Onest SemiBold"/>
      <p:regular r:id="rId201316"/>
    </p:embeddedFont>
    <p:embeddedFont>
      <p:font typeface="Ones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775" y="1488724"/>
            <a:ext cx="6069158" cy="207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700" b="1" spc="-143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Handwritten Digit</a:t>
            </a:r>
            <a:endParaRPr lang="en-US" sz="57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700" b="1" spc="-143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Recognition Using</a:t>
            </a:r>
            <a:endParaRPr lang="en-US" sz="57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5700" b="1" spc="-143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Neural Network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667924" y="3670697"/>
            <a:ext cx="4472769" cy="7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1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 machine learning approach to</a:t>
            </a:r>
            <a:endParaRPr lang="en-US" sz="21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21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optical character recognition.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222840" y="5387820"/>
            <a:ext cx="3981350" cy="316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By Patel Ankshita Vinod</a:t>
            </a:r>
            <a:endParaRPr lang="en-US" sz="2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0162" y="109637"/>
            <a:ext cx="1904952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167975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54896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01 · THE CHALLENGE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51525"/>
            <a:ext cx="2743131" cy="176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Handwriting is easy for people,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hard for machines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3023493"/>
            <a:ext cx="2743131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 human sees a digit as a shape; a model sees 784 measured intensities.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7093" y="0"/>
            <a:ext cx="7924602" cy="6858000"/>
          </a:xfrm>
          <a:prstGeom prst="roundRect">
            <a:avLst>
              <a:gd name="adj" fmla="val 1778"/>
            </a:avLst>
          </a:prstGeom>
          <a:solidFill>
            <a:srgbClr val="15206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5272" y="838196"/>
            <a:ext cx="406390" cy="406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14857" y="838200"/>
            <a:ext cx="563865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Recognize digits 0 through 9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14857" y="1337270"/>
            <a:ext cx="624824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Map handwritten marks to automatic digit predictions.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272" y="2937268"/>
            <a:ext cx="40639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14857" y="2937272"/>
            <a:ext cx="563865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Handle visual variation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714857" y="3436342"/>
            <a:ext cx="563865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Writing style, stroke thickness, slant, and image noise alter the signal.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272" y="5316732"/>
            <a:ext cx="40639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14857" y="5316736"/>
            <a:ext cx="563865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Connect to real workflows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5714857" y="5815806"/>
            <a:ext cx="563865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Postal sorting, bank-check reading, and form processing rely on this capability.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261170"/>
            <a:ext cx="2243081" cy="283865"/>
          </a:xfrm>
          <a:prstGeom prst="roundRect">
            <a:avLst>
              <a:gd name="adj" fmla="val 32212"/>
            </a:avLst>
          </a:prstGeom>
          <a:noFill/>
          <a:ln w="6350">
            <a:solidFill>
              <a:srgbClr val="7FA6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3882" y="1309568"/>
            <a:ext cx="262407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02 · WHY IT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782470"/>
            <a:ext cx="2301222" cy="220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Why digit recognition matters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beyond the classroom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4194870"/>
            <a:ext cx="2301222" cy="1401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Digit classification is a compact example of a much broader translation: visual marks become usable data.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77481" y="0"/>
            <a:ext cx="8214214" cy="6858000"/>
          </a:xfrm>
          <a:prstGeom prst="roundRect">
            <a:avLst>
              <a:gd name="adj" fmla="val 1778"/>
            </a:avLst>
          </a:prstGeom>
          <a:solidFill>
            <a:srgbClr val="15206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066" y="609600"/>
            <a:ext cx="6995045" cy="3751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61178" y="919498"/>
            <a:ext cx="3232829" cy="22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b="1" spc="-33" kern="100" dirty="0">
                <a:solidFill>
                  <a:srgbClr val="00000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Digit Classification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943276" y="3199907"/>
            <a:ext cx="1575028" cy="22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b="1" spc="-33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Searchable OCR Data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419" y="2218477"/>
            <a:ext cx="349747" cy="3497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00572" y="3317439"/>
            <a:ext cx="1575028" cy="453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b="1" spc="-33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Operational Workflows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715" y="2456311"/>
            <a:ext cx="349747" cy="3497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57867" y="3072610"/>
            <a:ext cx="1575028" cy="453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300" b="1" spc="-33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Image Understanding Reuse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7010" y="2190497"/>
            <a:ext cx="349747" cy="349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220162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60115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03 · PROJECT FRAME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51525"/>
            <a:ext cx="2743131" cy="176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The project turns pixels into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reliable predictions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3023493"/>
            <a:ext cx="2743131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Build the pipeline end to end, then evaluate the model from several angles.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67093" y="0"/>
            <a:ext cx="7924602" cy="6858000"/>
          </a:xfrm>
          <a:prstGeom prst="roundRect">
            <a:avLst>
              <a:gd name="adj" fmla="val 1778"/>
            </a:avLst>
          </a:prstGeom>
          <a:solidFill>
            <a:srgbClr val="152060"/>
          </a:solidFill>
          <a:ln/>
        </p:spPr>
      </p:sp>
      <p:sp>
        <p:nvSpPr>
          <p:cNvPr id="7" name="Shape 5"/>
          <p:cNvSpPr/>
          <p:nvPr/>
        </p:nvSpPr>
        <p:spPr>
          <a:xfrm>
            <a:off x="4495688" y="228600"/>
            <a:ext cx="3657509" cy="3124200"/>
          </a:xfrm>
          <a:prstGeom prst="rect">
            <a:avLst/>
          </a:prstGeom>
          <a:solidFill>
            <a:srgbClr val="080E33"/>
          </a:solidFill>
          <a:ln/>
        </p:spPr>
      </p:sp>
      <p:sp>
        <p:nvSpPr>
          <p:cNvPr id="8" name="Text 6"/>
          <p:cNvSpPr/>
          <p:nvPr/>
        </p:nvSpPr>
        <p:spPr>
          <a:xfrm>
            <a:off x="5105272" y="838200"/>
            <a:ext cx="2438339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Build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05272" y="1405830"/>
            <a:ext cx="243833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Grayscale digit inputs move through preprocessing, training, and inference.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05592" y="228600"/>
            <a:ext cx="3657509" cy="3124200"/>
          </a:xfrm>
          <a:prstGeom prst="rect">
            <a:avLst/>
          </a:prstGeom>
          <a:solidFill>
            <a:srgbClr val="080E33"/>
          </a:solidFill>
          <a:ln/>
        </p:spPr>
      </p:sp>
      <p:sp>
        <p:nvSpPr>
          <p:cNvPr id="11" name="Text 9"/>
          <p:cNvSpPr/>
          <p:nvPr/>
        </p:nvSpPr>
        <p:spPr>
          <a:xfrm>
            <a:off x="8915177" y="838200"/>
            <a:ext cx="2438339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Compare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915177" y="1405830"/>
            <a:ext cx="2438339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Logistic Regression and SVM establish a performance floor beside CNNs.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95688" y="3505200"/>
            <a:ext cx="7467413" cy="3124200"/>
          </a:xfrm>
          <a:prstGeom prst="rect">
            <a:avLst/>
          </a:prstGeom>
          <a:solidFill>
            <a:srgbClr val="080E33"/>
          </a:solidFill>
          <a:ln/>
        </p:spPr>
      </p:sp>
      <p:sp>
        <p:nvSpPr>
          <p:cNvPr id="14" name="Text 12"/>
          <p:cNvSpPr/>
          <p:nvPr/>
        </p:nvSpPr>
        <p:spPr>
          <a:xfrm>
            <a:off x="5105272" y="4114800"/>
            <a:ext cx="624824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Evaluate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05272" y="4682430"/>
            <a:ext cx="6248244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Accuracy, precision, recall, and a confusion matrix expose model behavior.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487252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186824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04 · DATASET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MNIST gives the model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C233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70,000 labeled examples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81572"/>
            <a:ext cx="1158211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 compact, balanced benchmark with a clean train–test split.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65164"/>
          <a:ext cx="10972526" cy="914400"/>
        </p:xfrm>
        <a:graphic>
          <a:graphicData uri="http://schemas.openxmlformats.org/drawingml/2006/table">
            <a:tbl>
              <a:tblPr/>
              <a:tblGrid>
                <a:gridCol w="4608397"/>
                <a:gridCol w="6364128"/>
              </a:tblGrid>
              <a:tr h="521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Property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Value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Total images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70,000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Training / test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60,000 / 10,000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Image size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28 × 28 × 1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9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Classes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10 digits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5038884"/>
            <a:ext cx="11582110" cy="272355"/>
          </a:xfrm>
          <a:prstGeom prst="rect">
            <a:avLst/>
          </a:prstGeom>
          <a:noFill/>
          <a:ln/>
        </p:spPr>
        <p:txBody>
          <a:bodyPr wrap="none" lIns="0" tIns="76198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Each example is labeled, grayscale, and assigned to one of the ten digit categories.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120973"/>
            <a:ext cx="2317196" cy="283865"/>
          </a:xfrm>
          <a:prstGeom prst="roundRect">
            <a:avLst>
              <a:gd name="adj" fmla="val 32212"/>
            </a:avLst>
          </a:prstGeom>
          <a:noFill/>
          <a:ln w="6350">
            <a:solidFill>
              <a:srgbClr val="7FA6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3882" y="1169372"/>
            <a:ext cx="2698186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05 · REPRESENTATION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642274"/>
            <a:ext cx="2346961" cy="220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Each image is small, but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every pixel carries signal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4054673"/>
            <a:ext cx="2346961" cy="1682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Intensity locates the stroke. Normalization stabilizes optimization. Reshaping preserves the 2D structure convolution can exploit.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70823" y="0"/>
            <a:ext cx="8320872" cy="6858000"/>
          </a:xfrm>
          <a:prstGeom prst="roundRect">
            <a:avLst>
              <a:gd name="adj" fmla="val 1778"/>
            </a:avLst>
          </a:prstGeom>
          <a:solidFill>
            <a:srgbClr val="15206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408" y="1616571"/>
            <a:ext cx="7101702" cy="36248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755830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13682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06 · 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The pipeline moves from pixels to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a tested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5372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Every stage makes the next decision more trustworthy.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461742"/>
            <a:ext cx="2590735" cy="1428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2780" y="4274542"/>
            <a:ext cx="218434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Preprocess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2780" y="4704953"/>
            <a:ext cx="2184345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Normalize pixels and reshape image tensors.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15" y="3156942"/>
            <a:ext cx="2590735" cy="1428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06710" y="3969742"/>
            <a:ext cx="218434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Explore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606710" y="4400153"/>
            <a:ext cx="2184345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Inspect sample digits and class balance.</a:t>
            </a:r>
            <a:endParaRPr lang="en-US" sz="1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445" y="2852142"/>
            <a:ext cx="2590735" cy="1428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640" y="3664942"/>
            <a:ext cx="218434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Train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00640" y="4095353"/>
            <a:ext cx="2184345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Compare baselines and CNNs through iterative training.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375" y="2547342"/>
            <a:ext cx="2590735" cy="1428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94570" y="3360142"/>
            <a:ext cx="218434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b="1" spc="-45" kern="100" dirty="0">
                <a:solidFill>
                  <a:srgbClr val="E9EE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Evaluate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9194570" y="3790553"/>
            <a:ext cx="2184345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Test unseen data and watch for overfitting.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679037" cy="283865"/>
          </a:xfrm>
          <a:prstGeom prst="roundRect">
            <a:avLst>
              <a:gd name="adj" fmla="val 32212"/>
            </a:avLst>
          </a:prstGeom>
          <a:noFill/>
          <a:ln w="6350">
            <a:solidFill>
              <a:srgbClr val="7FA6F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3882" y="657999"/>
            <a:ext cx="206002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07 · BASELINES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51525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Baseline models create a useful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performance floor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2197"/>
            <a:ext cx="1158211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The baseline makes the CNN's value measurable rather than assumed.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5" y="2160389"/>
            <a:ext cx="3555911" cy="2284412"/>
          </a:xfrm>
          <a:prstGeom prst="roundRect">
            <a:avLst>
              <a:gd name="adj" fmla="val 5337"/>
            </a:avLst>
          </a:prstGeom>
          <a:solidFill>
            <a:srgbClr val="080E33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388989"/>
            <a:ext cx="3098722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Logistic Regression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179" y="2956620"/>
            <a:ext cx="3098722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Fast and interpretable. A direct reference point for the classification task.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179" y="3964265"/>
            <a:ext cx="1874096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SPEED · HIGH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7892" y="2160389"/>
            <a:ext cx="3555911" cy="2284412"/>
          </a:xfrm>
          <a:prstGeom prst="roundRect">
            <a:avLst>
              <a:gd name="adj" fmla="val 5337"/>
            </a:avLst>
          </a:prstGeom>
          <a:solidFill>
            <a:srgbClr val="080E33"/>
          </a:solidFill>
          <a:ln/>
        </p:spPr>
      </p:sp>
      <p:sp>
        <p:nvSpPr>
          <p:cNvPr id="11" name="Text 9"/>
          <p:cNvSpPr/>
          <p:nvPr/>
        </p:nvSpPr>
        <p:spPr>
          <a:xfrm>
            <a:off x="4546486" y="2388989"/>
            <a:ext cx="3098722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SVM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46486" y="2956620"/>
            <a:ext cx="3098722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Can separate classes effectively after suitable feature preparation.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6486" y="3964265"/>
            <a:ext cx="276416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COMPLEXITY · MEDIUM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26199" y="2160389"/>
            <a:ext cx="3555911" cy="2284412"/>
          </a:xfrm>
          <a:prstGeom prst="roundRect">
            <a:avLst>
              <a:gd name="adj" fmla="val 5337"/>
            </a:avLst>
          </a:prstGeom>
          <a:solidFill>
            <a:srgbClr val="080E33"/>
          </a:solidFill>
          <a:ln/>
        </p:spPr>
      </p:sp>
      <p:sp>
        <p:nvSpPr>
          <p:cNvPr id="15" name="Text 13"/>
          <p:cNvSpPr/>
          <p:nvPr/>
        </p:nvSpPr>
        <p:spPr>
          <a:xfrm>
            <a:off x="8254793" y="2388989"/>
            <a:ext cx="3098722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CNN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54793" y="2956620"/>
            <a:ext cx="3098722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Learns spatial image representations directly from pixels.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4793" y="3964265"/>
            <a:ext cx="332731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REPRESENTATION · LEARNED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083667"/>
            <a:ext cx="1950691" cy="478830"/>
          </a:xfrm>
          <a:prstGeom prst="roundRect">
            <a:avLst>
              <a:gd name="adj" fmla="val 19096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1132066"/>
            <a:ext cx="1722097" cy="389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08 ·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799932"/>
            <a:ext cx="1950691" cy="2642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A CNN learns shapes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C233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before it learns labels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4652764"/>
            <a:ext cx="1950691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Spatial features build upward into ten-class probabilities.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554" y="0"/>
            <a:ext cx="8717141" cy="6858000"/>
          </a:xfrm>
          <a:prstGeom prst="roundRect">
            <a:avLst>
              <a:gd name="adj" fmla="val 1778"/>
            </a:avLst>
          </a:prstGeom>
          <a:solidFill>
            <a:srgbClr val="15206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4138" y="1515368"/>
            <a:ext cx="7497972" cy="38271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581508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96249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09 · OPTIMIZATION 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51525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Training improves the model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one batch at a time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25997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The model learns by measuring error, sending it backward, and updating its weights.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59397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2845197"/>
            <a:ext cx="365750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Feed labeled images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585" y="3344267"/>
            <a:ext cx="3657509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Send a batch through the network.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93" y="2159397"/>
            <a:ext cx="507987" cy="508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67093" y="2845197"/>
            <a:ext cx="365750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Predict the digit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267093" y="3344267"/>
            <a:ext cx="365750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Produce class probabilities from the input.</a:t>
            </a:r>
            <a:endParaRPr lang="en-US" sz="1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602" y="2159397"/>
            <a:ext cx="507987" cy="508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24602" y="2845197"/>
            <a:ext cx="365750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Measure loss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924602" y="3344267"/>
            <a:ext cx="365750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Compare the prediction with the true digit.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905052"/>
            <a:ext cx="507987" cy="508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9585" y="4590852"/>
            <a:ext cx="548626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Backpropagate error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09585" y="5089922"/>
            <a:ext cx="5486263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Send the learning signal through the network.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8" y="3905052"/>
            <a:ext cx="507987" cy="508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95848" y="4590852"/>
            <a:ext cx="548626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Update weights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6095848" y="5089922"/>
            <a:ext cx="5486263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Repeat across epochs while monitoring validation behavior.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514239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895230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10 · RESULTS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51525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Results need five measured views, not one number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25997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Every value below is filled in from the experiment, not estimated here.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159397"/>
            <a:ext cx="195069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Accuracy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2658467"/>
            <a:ext cx="1950691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Insert measured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64969" y="2159397"/>
            <a:ext cx="195069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Precision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864969" y="2658467"/>
            <a:ext cx="1950691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Insert measured value per class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353" y="2159397"/>
            <a:ext cx="195088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Recall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353" y="2658467"/>
            <a:ext cx="1950889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Insert measured value per class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75936" y="2159397"/>
            <a:ext cx="195069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F1-score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75936" y="2658467"/>
            <a:ext cx="1950691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Insert measured value per class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31320" y="2159397"/>
            <a:ext cx="195079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Confusion matrix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31320" y="2658467"/>
            <a:ext cx="195079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Insert measured 10×10 counts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564741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94573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11 · MODEL COMPARISON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51525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Each model trades speed for learned features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02197"/>
          <a:ext cx="10972526" cy="914400"/>
        </p:xfrm>
        <a:graphic>
          <a:graphicData uri="http://schemas.openxmlformats.org/drawingml/2006/table">
            <a:tbl>
              <a:tblPr/>
              <a:tblGrid>
                <a:gridCol w="2633398"/>
                <a:gridCol w="2743131"/>
                <a:gridCol w="2743131"/>
                <a:gridCol w="2852865"/>
              </a:tblGrid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Criterion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Logistic Regression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SVM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CNN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33"/>
                    </a:solidFill>
                  </a:tcPr>
                </a:tc>
              </a:tr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Speed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Fastest to train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Moderate on large data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Slowest to train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33"/>
                    </a:solidFill>
                  </a:tcPr>
                </a:tc>
              </a:tr>
              <a:tr h="4556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Feature learning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None; uses raw pixels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Limited; kernel choice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Learns spatial features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33"/>
                    </a:solidFill>
                  </a:tcPr>
                </a:tc>
              </a:tr>
              <a:tr h="7359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Expected predictive strength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Solid baseline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Stronger baseline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Expected strongest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33"/>
                    </a:solidFill>
                  </a:tcPr>
                </a:tc>
              </a:tr>
              <a:tr h="7232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Actual test metrics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Placeholder: insert measured value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Placeholder: insert measured value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0"/>
                        </a:rPr>
                        <a:t>Placeholder: insert measured value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222940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60393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12 · ERROR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51525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Errors cluster around visually similar digits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25997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The confusion matrix shows which class pairs the model mixes up.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159397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Why it happens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2658467"/>
            <a:ext cx="533386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Strokes that share a shape, such as loops and bars, blur together when written loosely.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48244" y="2159397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How to read the matrix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48244" y="2658467"/>
            <a:ext cx="533386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Rows are true digits, columns are predictions. Off-diagonal cells mark class-specific weaknesses.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585" y="3397052"/>
            <a:ext cx="1158211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Commonly confused pairs are qualitative here; replace with the measured pairs from the confusion matrix.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940869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32185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13 · KEY FINDINGS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51525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Four findings shape the next version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2197"/>
            <a:ext cx="533386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Preprocessing must match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09585" y="2269827"/>
            <a:ext cx="533386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Training and test images need the same scaling and centering.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8244" y="1702197"/>
            <a:ext cx="533386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CNNs learn spatial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48244" y="2269827"/>
            <a:ext cx="533386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Convolutions read strokes and shapes directly from pixels.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585" y="3135412"/>
            <a:ext cx="533386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Baselines set a floor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9585" y="3703042"/>
            <a:ext cx="533386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Simple models give a meaningful benchmark for the CNN.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48244" y="3135412"/>
            <a:ext cx="533386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2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Accuracy is not enough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48244" y="3703042"/>
            <a:ext cx="533386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Precision, recall, F1 and the confusion matrix reveal what accuracy hides.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868639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249630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14 · 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51525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A CNN can read handwritten digits from pixels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625997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The project takeaway is clear; the final numbers come from the experiment.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146697"/>
            <a:ext cx="109725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Next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2645767"/>
            <a:ext cx="10972526" cy="1273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Insert measured results for all five evaluation views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Inspect misclassified examples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Tune regularization and augmentation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Validate on less controlled handwriting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2026-10-28T13:20:12Z</dcterms:created>
  <dcterms:modified xsi:type="dcterms:W3CDTF">2026-10-28T13:20:12Z</dcterms:modified>
</cp:coreProperties>
</file>